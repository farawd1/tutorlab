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05440edc274254" /><Relationship Type="http://schemas.openxmlformats.org/officeDocument/2006/relationships/extended-properties" Target="/docProps/app.xml" Id="Rf42be839bdc24e6a" /><Relationship Type="http://schemas.openxmlformats.org/officeDocument/2006/relationships/officeDocument" Target="/ppt/presentation.xml" Id="R7932bff8c37740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dbc9abc34643f3"/>
  </p:sldMasterIdLst>
  <p:notesMasterIdLst>
    <p:notesMasterId xmlns:r="http://schemas.openxmlformats.org/officeDocument/2006/relationships" r:id="R4049dbbd0c5c4cd5"/>
  </p:notesMasterIdLst>
  <p:sldIdLst>
    <p:sldId xmlns:r="http://schemas.openxmlformats.org/officeDocument/2006/relationships" id="256" r:id="Rd905a582ab7c4492"/>
    <p:sldId xmlns:r="http://schemas.openxmlformats.org/officeDocument/2006/relationships" id="257" r:id="Rcdf79bcad21d4c6d"/>
    <p:sldId xmlns:r="http://schemas.openxmlformats.org/officeDocument/2006/relationships" id="258" r:id="Rdd7377a2e79943bd"/>
    <p:sldId xmlns:r="http://schemas.openxmlformats.org/officeDocument/2006/relationships" id="259" r:id="Rd4f2df8aacec4e6e"/>
    <p:sldId xmlns:r="http://schemas.openxmlformats.org/officeDocument/2006/relationships" id="260" r:id="R33e403beb75a446c"/>
    <p:sldId xmlns:r="http://schemas.openxmlformats.org/officeDocument/2006/relationships" id="261" r:id="R31d6065a0df34622"/>
    <p:sldId xmlns:r="http://schemas.openxmlformats.org/officeDocument/2006/relationships" id="262" r:id="R44b44052e29a4417"/>
    <p:sldId xmlns:r="http://schemas.openxmlformats.org/officeDocument/2006/relationships" id="263" r:id="R4f89bcc277a64ad0"/>
    <p:sldId xmlns:r="http://schemas.openxmlformats.org/officeDocument/2006/relationships" id="264" r:id="R81d31e15479941e0"/>
    <p:sldId xmlns:r="http://schemas.openxmlformats.org/officeDocument/2006/relationships" id="265" r:id="R00ea5815905645c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364c0a023c4d39" /><Relationship Type="http://schemas.openxmlformats.org/officeDocument/2006/relationships/slideMaster" Target="/ppt/slideMasters/slideMaster1.xml" Id="R76dbc9abc34643f3" /><Relationship Type="http://schemas.openxmlformats.org/officeDocument/2006/relationships/notesMaster" Target="/ppt/notesMasters/notesMaster1.xml" Id="R4049dbbd0c5c4cd5" /><Relationship Type="http://schemas.openxmlformats.org/officeDocument/2006/relationships/presProps" Target="/ppt/presProps.xml" Id="Rdac2ff3da29b4918" /><Relationship Type="http://schemas.openxmlformats.org/officeDocument/2006/relationships/tableStyles" Target="/ppt/tableStyles.xml" Id="R3a51b896ea3b43de" /><Relationship Type="http://schemas.openxmlformats.org/officeDocument/2006/relationships/slide" Target="/ppt/slides/slide1.xml" Id="Rd905a582ab7c4492" /><Relationship Type="http://schemas.openxmlformats.org/officeDocument/2006/relationships/slide" Target="/ppt/slides/slide2.xml" Id="Rcdf79bcad21d4c6d" /><Relationship Type="http://schemas.openxmlformats.org/officeDocument/2006/relationships/slide" Target="/ppt/slides/slide3.xml" Id="Rdd7377a2e79943bd" /><Relationship Type="http://schemas.openxmlformats.org/officeDocument/2006/relationships/slide" Target="/ppt/slides/slide4.xml" Id="Rd4f2df8aacec4e6e" /><Relationship Type="http://schemas.openxmlformats.org/officeDocument/2006/relationships/slide" Target="/ppt/slides/slide5.xml" Id="R33e403beb75a446c" /><Relationship Type="http://schemas.openxmlformats.org/officeDocument/2006/relationships/slide" Target="/ppt/slides/slide6.xml" Id="R31d6065a0df34622" /><Relationship Type="http://schemas.openxmlformats.org/officeDocument/2006/relationships/slide" Target="/ppt/slides/slide7.xml" Id="R44b44052e29a4417" /><Relationship Type="http://schemas.openxmlformats.org/officeDocument/2006/relationships/slide" Target="/ppt/slides/slide8.xml" Id="R4f89bcc277a64ad0" /><Relationship Type="http://schemas.openxmlformats.org/officeDocument/2006/relationships/slide" Target="/ppt/slides/slide9.xml" Id="R81d31e15479941e0" /><Relationship Type="http://schemas.openxmlformats.org/officeDocument/2006/relationships/slide" Target="/ppt/slides/slide10.xml" Id="R00ea5815905645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f881f0cb2c45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44c72caf0b42a7" /><Relationship Type="http://schemas.openxmlformats.org/officeDocument/2006/relationships/notesMaster" Target="/ppt/notesMasters/notesMaster1.xml" Id="R3332d2f942984b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4e64ae731694c53" /><Relationship Type="http://schemas.openxmlformats.org/officeDocument/2006/relationships/notesMaster" Target="/ppt/notesMasters/notesMaster1.xml" Id="Rb9c2880601bf4d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7af92b208b4c15" /><Relationship Type="http://schemas.openxmlformats.org/officeDocument/2006/relationships/notesMaster" Target="/ppt/notesMasters/notesMaster1.xml" Id="Rf3949d1166cf46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b81643d116454d" /><Relationship Type="http://schemas.openxmlformats.org/officeDocument/2006/relationships/notesMaster" Target="/ppt/notesMasters/notesMaster1.xml" Id="Rf9ea8d82f2894b9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1d5f7f2cff4a9a" /><Relationship Type="http://schemas.openxmlformats.org/officeDocument/2006/relationships/notesMaster" Target="/ppt/notesMasters/notesMaster1.xml" Id="Rd208f6da228f4fe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15029ed58546e3" /><Relationship Type="http://schemas.openxmlformats.org/officeDocument/2006/relationships/notesMaster" Target="/ppt/notesMasters/notesMaster1.xml" Id="R1cdebd8d842c4c4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541bef33f864ae5" /><Relationship Type="http://schemas.openxmlformats.org/officeDocument/2006/relationships/notesMaster" Target="/ppt/notesMasters/notesMaster1.xml" Id="R75dd70ffec0b4ac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02f736eeee421f" /><Relationship Type="http://schemas.openxmlformats.org/officeDocument/2006/relationships/notesMaster" Target="/ppt/notesMasters/notesMaster1.xml" Id="Rd1b522680a9f414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5414ef8f3f549da" /><Relationship Type="http://schemas.openxmlformats.org/officeDocument/2006/relationships/notesMaster" Target="/ppt/notesMasters/notesMaster1.xml" Id="R9c4ba7f1c4174fc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1b0e56767134af2" /><Relationship Type="http://schemas.openxmlformats.org/officeDocument/2006/relationships/notesMaster" Target="/ppt/notesMasters/notesMaster1.xml" Id="R64851271b14942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Мы делаем Tutorlab для преподавателей и репетиторов. Здесь педагог собирает собственный курс: загружает материал, даёт задания, проводит экзамен и видит, как ученик справился.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Знакомая ситуация: урок прошёл, но дальше нужно отправить запись, найти нужный файл, собрать решения из личных сообщений и не забыть, кому уже выставлен балл. Мы хотим убрать именно эту рутину.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Мы не продаём готовый курс. Анна, как преподаватель, сама создаёт курс и решает, что в нём будет. Tutorlab даёт ей одно рабочее место для этой работы. На экране реальный кабинет демо.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Например, Анна ведёт математику в десятом классе. Она загружает свою лекцию и задачи, затем отправляет ученикам код курса. Материал остаётся её собственным, а ученику не нужно искать ссылки по чатам.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Данияр получает код от Анны. Внутри курса он видит материалы и задания, отправляет решение и позже получает оценку с комментарием. Это простой маршрут без лишних ссылок.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Для обычного числового ответа Tutorlab может сразу сверить результат. Программу проверяет Judge0 на открытых и скрытых тестах. Для развёрнутой работы DeepSeek готовит черновик разбора. Важно: итоговую оценку всегда утверждает преподаватель. В демо интеграции Judge0 и DeepSeek включаются после добавления endpoint и ключа.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Для экзамена мы ограничиваем попытку и считаем время на сервере. Платформа записывает события, например уход со вкладки. Камера обрабатывает кадры на устройстве ученика; видео не сохраняется. Сигналы нужны преподавателю для разбора, а не для автоматического обвинения.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Если пройти полный путь, всё выглядит просто: преподаватель создаёт курс, ученик заходит по коду, изучает лекцию и решает задачу. Система помогает с проверкой, а Анна публикует финальную оценку и комментарий.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 нас уже работает полный основной сценарий: вход, создание курса, лекции, задачи, экзамен и оценка. Для AI-разбора понадобится ключ DeepSeek, а для проверки программ рабочий Judge0. Код доступен на GitHub.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Идея Tutorlab простая: преподаватель должен тратить время на объяснение и помощь ученику, а не на поиск файлов и сбор ответов. Спасибо!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dc79a15b3842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cad268d7194fb4" /><Relationship Type="http://schemas.openxmlformats.org/officeDocument/2006/relationships/slideLayout" Target="/ppt/slideLayouts/slideLayout1.xml" Id="Rc7f2a9b6b73c4f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f2a9b6b73c4f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3313d46c674716" /><Relationship Type="http://schemas.openxmlformats.org/officeDocument/2006/relationships/notesSlide" Target="/ppt/notesSlides/notesSlide1.xml" Id="Re9638a5b874a41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8f9579a3a24327" /><Relationship Type="http://schemas.openxmlformats.org/officeDocument/2006/relationships/notesSlide" Target="/ppt/notesSlides/notesSlide2.xml" Id="R40f40610b592470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a5c0d1e3234678" /><Relationship Type="http://schemas.openxmlformats.org/officeDocument/2006/relationships/image" Target="/ppt/media/image.png" Id="Rdd8b9c4059c349f5" /><Relationship Type="http://schemas.openxmlformats.org/officeDocument/2006/relationships/notesSlide" Target="/ppt/notesSlides/notesSlide3.xml" Id="Ra77bb17b3eb2447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65b29f210147d2" /><Relationship Type="http://schemas.openxmlformats.org/officeDocument/2006/relationships/image" Target="/ppt/media/image2.png" Id="R1273b12b153b459a" /><Relationship Type="http://schemas.openxmlformats.org/officeDocument/2006/relationships/notesSlide" Target="/ppt/notesSlides/notesSlide4.xml" Id="R8bf6a15197d74f4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f274b7adc6432d" /><Relationship Type="http://schemas.openxmlformats.org/officeDocument/2006/relationships/image" Target="/ppt/media/image3.png" Id="Rccccc27b82d94eb7" /><Relationship Type="http://schemas.openxmlformats.org/officeDocument/2006/relationships/notesSlide" Target="/ppt/notesSlides/notesSlide5.xml" Id="R7e90ee4463db4ac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038a8531cf4398" /><Relationship Type="http://schemas.openxmlformats.org/officeDocument/2006/relationships/notesSlide" Target="/ppt/notesSlides/notesSlide6.xml" Id="R982b38e66fd54d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fef3a7c3a240e6" /><Relationship Type="http://schemas.openxmlformats.org/officeDocument/2006/relationships/notesSlide" Target="/ppt/notesSlides/notesSlide7.xml" Id="R8ac8a3849e314c7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0f375abe8b4910" /><Relationship Type="http://schemas.openxmlformats.org/officeDocument/2006/relationships/notesSlide" Target="/ppt/notesSlides/notesSlide8.xml" Id="R16744f61fae4446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682fbf06db4375" /><Relationship Type="http://schemas.openxmlformats.org/officeDocument/2006/relationships/notesSlide" Target="/ppt/notesSlides/notesSlide9.xml" Id="Rd14e21bf0735431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baffe8f20b4cc5" /><Relationship Type="http://schemas.openxmlformats.org/officeDocument/2006/relationships/notesSlide" Target="/ppt/notesSlides/notesSlide10.xml" Id="R02a01a297a14432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8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E625C4-A60D-42E2-B6DA-A5C212BAA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"/>
            <a:ext cx="666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tutorlab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EC1F1A-0958-4048-AE3A-A0C3889EC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7620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A5F3D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5F3D4"/>
                </a:solidFill>
                <a:latin typeface="Arial"/>
                <a:ea typeface="Arial"/>
                <a:cs typeface="Arial"/>
              </a:rPr>
              <a:t>Своя учебная платформа</a:t>
            </a:r>
          </a:p>
          <a:p xmlns:a="http://schemas.openxmlformats.org/drawingml/2006/main">
            <a:pPr algn="l">
              <a:defRPr sz="3150" b="1">
                <a:solidFill>
                  <a:srgbClr val="A5F3D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5F3D4"/>
                </a:solidFill>
                <a:latin typeface="Arial"/>
                <a:ea typeface="Arial"/>
                <a:cs typeface="Arial"/>
              </a:rPr>
              <a:t>для каждого преподавателя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039868-B76E-450E-AD9C-82CF0A22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781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Курсы, лекции, задачи, экзамены и проверка работ</a:t>
            </a:r>
          </a:p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в одном месте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07D83D-94D6-49A3-B915-22993115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AE0E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AE0EC"/>
                </a:solidFill>
                <a:latin typeface="Arial"/>
                <a:ea typeface="Arial"/>
                <a:cs typeface="Arial"/>
              </a:rPr>
              <a:t>МАТЕМАТИКА  /  ФИЗИКА  /  ИНФОРМАТИКА</a:t>
            </a:r>
          </a:p>
        </p:txBody>
      </p:sp>
    </p:spTree>
    <p:extLst>
      <p:ext uri="{BB962C8B-B14F-4D97-AF65-F5344CB8AC3E}">
        <p14:creationId xmlns:p14="http://schemas.microsoft.com/office/powerpoint/2010/main" val="1861871369"/>
      </p:ext>
    </p:extLst>
  </p:cSld>
  <p:transition spd="med" advClick="1">
    <p:fade/>
  </p:transition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86C151-C79B-4ECD-B2F7-6AB2B0E3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470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0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F4272D-8307-4F0B-93AE-95814C7E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A5CE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A5CE9"/>
                </a:solidFill>
                <a:latin typeface="Arial"/>
                <a:ea typeface="Arial"/>
                <a:cs typeface="Arial"/>
              </a:rPr>
              <a:t>ЗНАКОМАЯ ИСТОРИЯ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E5FB5D-E05D-4BA8-A455-46352201E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52500"/>
            <a:ext cx="9906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1182C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1182C"/>
                </a:solidFill>
                <a:latin typeface="Arial"/>
                <a:ea typeface="Arial"/>
                <a:cs typeface="Arial"/>
              </a:rPr>
              <a:t>После урока работа</a:t>
            </a:r>
          </a:p>
          <a:p xmlns:a="http://schemas.openxmlformats.org/drawingml/2006/main">
            <a:pPr algn="l">
              <a:defRPr sz="4500" b="1">
                <a:solidFill>
                  <a:srgbClr val="11182C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1182C"/>
                </a:solidFill>
                <a:latin typeface="Arial"/>
                <a:ea typeface="Arial"/>
                <a:cs typeface="Arial"/>
              </a:rPr>
              <a:t>не заканчивается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393086-6B29-406C-A483-BD413830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A5CE9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A5CE9"/>
                </a:solidFill>
                <a:latin typeface="Arial"/>
                <a:ea typeface="Arial"/>
                <a:cs typeface="Arial"/>
              </a:rPr>
              <a:t>Видео уходит в чат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B367A2-48FD-4E50-B147-7C7D226B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C"/>
                </a:solidFill>
                <a:latin typeface="Arial"/>
                <a:ea typeface="Arial"/>
                <a:cs typeface="Arial"/>
              </a:rPr>
              <a:t>Задачи живут в файлах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3A53AC-2B16-460C-AC04-DD8B9C72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434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C"/>
                </a:solidFill>
                <a:latin typeface="Arial"/>
                <a:ea typeface="Arial"/>
                <a:cs typeface="Arial"/>
              </a:rPr>
              <a:t>Ответы и оценки теряются в сообщениях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20DEE3-44DA-4100-BD58-4CA478E8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4708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4708B"/>
                </a:solidFill>
                <a:latin typeface="Arial"/>
                <a:ea typeface="Arial"/>
                <a:cs typeface="Arial"/>
              </a:rPr>
              <a:t>Внимание преподавателя уходит на пересылки и поиск, а не на обратную связь.</a:t>
            </a:r>
          </a:p>
        </p:txBody>
      </p:sp>
    </p:spTree>
    <p:extLst>
      <p:ext uri="{BB962C8B-B14F-4D97-AF65-F5344CB8AC3E}">
        <p14:creationId xmlns:p14="http://schemas.microsoft.com/office/powerpoint/2010/main" val="532591676"/>
      </p:ext>
    </p:extLst>
  </p:cSld>
  <p:transition spd="med" advClick="1">
    <p:fade/>
  </p:transition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118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3128DA-2DBD-4B39-9190-7C9356BA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DAE0E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AE0E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AB3FC7-0CF5-4706-BDBE-B05E588F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5F3D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5F3D4"/>
                </a:solidFill>
                <a:latin typeface="Arial"/>
                <a:ea typeface="Arial"/>
                <a:cs typeface="Arial"/>
              </a:rPr>
              <a:t>РЕШЕНИЕ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E6A570-9F00-4E50-B63F-331E3D76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44767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Один кабинет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для своего курса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440A26-AEC0-4C66-AE1F-7DC2D2E1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4238625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DAE0E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AE0EC"/>
                </a:solidFill>
                <a:latin typeface="Arial"/>
                <a:ea typeface="Arial"/>
                <a:cs typeface="Arial"/>
              </a:rPr>
              <a:t>Преподаватель задаёт содержание.</a:t>
            </a:r>
          </a:p>
          <a:p xmlns:a="http://schemas.openxmlformats.org/drawingml/2006/main">
            <a:pPr algn="l">
              <a:defRPr sz="1950" b="0">
                <a:solidFill>
                  <a:srgbClr val="DAE0E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AE0EC"/>
                </a:solidFill>
                <a:latin typeface="Arial"/>
                <a:ea typeface="Arial"/>
                <a:cs typeface="Arial"/>
              </a:rPr>
              <a:t>Tutorlab держит материалы, задания и результаты рядом.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8b9c4059c349f5"/>
          <a:stretch xmlns:a="http://schemas.openxmlformats.org/drawingml/2006/main"/>
        </p:blipFill>
        <p:spPr>
          <a:xfrm xmlns:a="http://schemas.openxmlformats.org/drawingml/2006/main">
            <a:off x="5191125" y="1200299"/>
            <a:ext cx="6429375" cy="436215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BEE723-4525-4A84-A862-CD1667A3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857875"/>
            <a:ext cx="628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5F3D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5F3D4"/>
                </a:solidFill>
                <a:latin typeface="Arial"/>
                <a:ea typeface="Arial"/>
                <a:cs typeface="Arial"/>
              </a:rPr>
              <a:t>Кабинет преподавателя в работающем демо</a:t>
            </a:r>
          </a:p>
        </p:txBody>
      </p:sp>
    </p:spTree>
    <p:extLst>
      <p:ext uri="{BB962C8B-B14F-4D97-AF65-F5344CB8AC3E}">
        <p14:creationId xmlns:p14="http://schemas.microsoft.com/office/powerpoint/2010/main" val="686384563"/>
      </p:ext>
    </p:extLst>
  </p:cSld>
  <p:transition spd="med" advClick="1">
    <p:fade/>
  </p:transition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E5E25F-5AA4-41E2-961E-C313453F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470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0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7C5278-8390-4FE6-B716-5E3E2437E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A5CE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A5CE9"/>
                </a:solidFill>
                <a:latin typeface="Arial"/>
                <a:ea typeface="Arial"/>
                <a:cs typeface="Arial"/>
              </a:rPr>
              <a:t>ДЛЯ ПРЕПОДАВАТЕЛЯ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77761A-8E7A-4616-B7E0-505E7322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105727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425" b="1">
                <a:solidFill>
                  <a:srgbClr val="11182C"/>
                </a:solidFill>
                <a:latin typeface="Arial"/>
                <a:ea typeface="Arial"/>
                <a:cs typeface="Arial"/>
              </a:defRPr>
            </a:pPr>
            <a:r>
              <a:rPr sz="4425" b="1">
                <a:solidFill>
                  <a:srgbClr val="11182C"/>
                </a:solidFill>
                <a:latin typeface="Arial"/>
                <a:ea typeface="Arial"/>
                <a:cs typeface="Arial"/>
              </a:rPr>
              <a:t>Свой материал.</a:t>
            </a:r>
          </a:p>
          <a:p xmlns:a="http://schemas.openxmlformats.org/drawingml/2006/main">
            <a:pPr algn="l">
              <a:defRPr sz="4425" b="1">
                <a:solidFill>
                  <a:srgbClr val="11182C"/>
                </a:solidFill>
                <a:latin typeface="Arial"/>
                <a:ea typeface="Arial"/>
                <a:cs typeface="Arial"/>
              </a:defRPr>
            </a:pPr>
            <a:r>
              <a:rPr sz="4425" b="1">
                <a:solidFill>
                  <a:srgbClr val="11182C"/>
                </a:solidFill>
                <a:latin typeface="Arial"/>
                <a:ea typeface="Arial"/>
                <a:cs typeface="Arial"/>
              </a:rPr>
              <a:t>Свой способ учить.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73b12b153b459a"/>
          <a:stretch xmlns:a="http://schemas.openxmlformats.org/drawingml/2006/main"/>
        </p:blipFill>
        <p:spPr>
          <a:xfrm xmlns:a="http://schemas.openxmlformats.org/drawingml/2006/main">
            <a:off x="1314450" y="2524125"/>
            <a:ext cx="5791200" cy="3619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22AE1E-FC22-4A7D-9385-9A046E96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81300"/>
            <a:ext cx="3333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82C"/>
                </a:solidFill>
                <a:latin typeface="Arial"/>
                <a:ea typeface="Arial"/>
                <a:cs typeface="Arial"/>
              </a:rPr>
              <a:t>Анна загружает лекцию, добавляет задачи и делится кодом курса.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075323-B59B-4782-A9F5-D1DD15362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191125"/>
            <a:ext cx="333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4708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4708B"/>
                </a:solidFill>
                <a:latin typeface="Arial"/>
                <a:ea typeface="Arial"/>
                <a:cs typeface="Arial"/>
              </a:rPr>
              <a:t>Текст, PDF, изображения и видео остаются внутри курса.</a:t>
            </a:r>
          </a:p>
        </p:txBody>
      </p:sp>
    </p:spTree>
    <p:extLst>
      <p:ext uri="{BB962C8B-B14F-4D97-AF65-F5344CB8AC3E}">
        <p14:creationId xmlns:p14="http://schemas.microsoft.com/office/powerpoint/2010/main" val="286555724"/>
      </p:ext>
    </p:extLst>
  </p:cSld>
  <p:transition spd="med" advClick="1">
    <p:push dir="l"/>
  </p:transition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1FCAB8-0AA0-434E-9F24-112B1F7B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470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08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6B8C9F-76CB-43C8-826F-20098219F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A5CE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A5CE9"/>
                </a:solidFill>
                <a:latin typeface="Arial"/>
                <a:ea typeface="Arial"/>
                <a:cs typeface="Arial"/>
              </a:rPr>
              <a:t>ДЛЯ УЧЕНИКА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8178DB-59B1-487C-9DAC-C8038BFF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10572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82C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82C"/>
                </a:solidFill>
                <a:latin typeface="Arial"/>
                <a:ea typeface="Arial"/>
                <a:cs typeface="Arial"/>
              </a:rPr>
              <a:t>Понятно, что делать</a:t>
            </a:r>
          </a:p>
          <a:p xmlns:a="http://schemas.openxmlformats.org/drawingml/2006/main">
            <a:pPr algn="l">
              <a:defRPr sz="4350" b="1">
                <a:solidFill>
                  <a:srgbClr val="11182C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82C"/>
                </a:solidFill>
                <a:latin typeface="Arial"/>
                <a:ea typeface="Arial"/>
                <a:cs typeface="Arial"/>
              </a:rPr>
              <a:t>после урока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852CFC-8A80-47A1-B303-F9034473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33675"/>
            <a:ext cx="36195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1182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1182C"/>
                </a:solidFill>
                <a:latin typeface="Arial"/>
                <a:ea typeface="Arial"/>
                <a:cs typeface="Arial"/>
              </a:rPr>
              <a:t>Данияр открывает курс</a:t>
            </a:r>
          </a:p>
          <a:p xmlns:a="http://schemas.openxmlformats.org/drawingml/2006/main">
            <a:pPr algn="l">
              <a:defRPr sz="2325" b="0">
                <a:solidFill>
                  <a:srgbClr val="11182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1182C"/>
                </a:solidFill>
                <a:latin typeface="Arial"/>
                <a:ea typeface="Arial"/>
                <a:cs typeface="Arial"/>
              </a:rPr>
              <a:t>и видит лекции и задачи.</a:t>
            </a:r>
          </a:p>
          <a:p xmlns:a="http://schemas.openxmlformats.org/drawingml/2006/main">
            <a:pPr algn="l">
              <a:defRPr sz="2325" b="0">
                <a:solidFill>
                  <a:srgbClr val="11182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1182C"/>
                </a:solidFill>
                <a:latin typeface="Arial"/>
                <a:ea typeface="Arial"/>
                <a:cs typeface="Arial"/>
              </a:rPr>
              <a:t>Решение он отправляет</a:t>
            </a:r>
          </a:p>
          <a:p xmlns:a="http://schemas.openxmlformats.org/drawingml/2006/main">
            <a:pPr algn="l">
              <a:defRPr sz="2325" b="0">
                <a:solidFill>
                  <a:srgbClr val="11182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1182C"/>
                </a:solidFill>
                <a:latin typeface="Arial"/>
                <a:ea typeface="Arial"/>
                <a:cs typeface="Arial"/>
              </a:rPr>
              <a:t>там же.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ccc27b82d94eb7"/>
          <a:stretch xmlns:a="http://schemas.openxmlformats.org/drawingml/2006/main"/>
        </p:blipFill>
        <p:spPr>
          <a:xfrm xmlns:a="http://schemas.openxmlformats.org/drawingml/2006/main">
            <a:off x="5200650" y="2524125"/>
            <a:ext cx="5791200" cy="3619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01E883-788C-4CDC-9E09-7610F135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3714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708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08B"/>
                </a:solidFill>
                <a:latin typeface="Arial"/>
                <a:ea typeface="Arial"/>
                <a:cs typeface="Arial"/>
              </a:rPr>
              <a:t>Никаких потерянных файлов и ответов в личных сообщениях.</a:t>
            </a:r>
          </a:p>
        </p:txBody>
      </p:sp>
    </p:spTree>
    <p:extLst>
      <p:ext uri="{BB962C8B-B14F-4D97-AF65-F5344CB8AC3E}">
        <p14:creationId xmlns:p14="http://schemas.microsoft.com/office/powerpoint/2010/main" val="1572139975"/>
      </p:ext>
    </p:extLst>
  </p:cSld>
  <p:transition spd="med" advClick="1">
    <p:push dir="l"/>
  </p:transition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118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E4E553-92F0-4F96-813E-997BAE35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DAE0E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AE0E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D9FA91-7010-4F15-9587-629B1E259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5F3D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5F3D4"/>
                </a:solidFill>
                <a:latin typeface="Arial"/>
                <a:ea typeface="Arial"/>
                <a:cs typeface="Arial"/>
              </a:rPr>
              <a:t>ПРОВЕРКА РАБОТ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DC31FD-CB18-4F87-B5DE-A72B2A16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10572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Разные задачи требуют</a:t>
            </a:r>
          </a:p>
          <a:p xmlns:a="http://schemas.openxmlformats.org/drawingml/2006/main">
            <a:pPr algn="l"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разной проверки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3F6018-49B1-46A0-B747-CA578085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114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A5F3D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A5F3D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5235CD-783C-48AD-8431-425E32B2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686050"/>
            <a:ext cx="919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Числовой ответ сверяется автоматически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68F2CC-F110-42DB-9164-9AA28921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14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A5F3D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A5F3D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E2680A-F74F-4AFD-82A0-28302944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581400"/>
            <a:ext cx="919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Код проходит тесты в Judge0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F04AB1-7828-4CAF-B961-3055CDB1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114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A5F3D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A5F3D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37A9C8-F4F7-4AF3-9421-F23619DA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476750"/>
            <a:ext cx="9191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DeepSeek предлагает разбор письменного решения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139C30-0553-45E6-8458-F7FB5FF7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5F3D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5F3D4"/>
                </a:solidFill>
                <a:latin typeface="Arial"/>
                <a:ea typeface="Arial"/>
                <a:cs typeface="Arial"/>
              </a:rPr>
              <a:t>Итоговый балл подтверждает преподаватель</a:t>
            </a:r>
          </a:p>
        </p:txBody>
      </p:sp>
    </p:spTree>
    <p:extLst>
      <p:ext uri="{BB962C8B-B14F-4D97-AF65-F5344CB8AC3E}">
        <p14:creationId xmlns:p14="http://schemas.microsoft.com/office/powerpoint/2010/main" val="597304798"/>
      </p:ext>
    </p:extLst>
  </p:cSld>
  <p:transition spd="med" advClick="1">
    <p:fade/>
  </p:transition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3A5C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D84E19-07D4-4E17-A374-435A61039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DAE0E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AE0E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8BE01E-150F-4120-AB87-6395A91E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5F3D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5F3D4"/>
                </a:solidFill>
                <a:latin typeface="Arial"/>
                <a:ea typeface="Arial"/>
                <a:cs typeface="Arial"/>
              </a:rPr>
              <a:t>ЭКЗАМЕНЫ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8F174C-7294-4EFE-9253-3EC864C5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Экзамен остаётся</a:t>
            </a:r>
          </a:p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под контролем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C488B5-F572-4291-BB25-C080210E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860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Одна попытка и время на сервере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49C0BD-2164-490A-8F31-35F8E792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861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Журнал событий во время работы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02EA97-D09B-4F31-BB56-90B29561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862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Сигналы камеры анализируются на устройстве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228B21-9A78-4684-AD0E-56A6B530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38825"/>
            <a:ext cx="1057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5F3D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5F3D4"/>
                </a:solidFill>
                <a:latin typeface="Arial"/>
                <a:ea typeface="Arial"/>
                <a:cs typeface="Arial"/>
              </a:rPr>
              <a:t>Сигнал помогает разобраться в ситуации. Он сам по себе не доказывает списывание.</a:t>
            </a:r>
          </a:p>
        </p:txBody>
      </p:sp>
    </p:spTree>
    <p:extLst>
      <p:ext uri="{BB962C8B-B14F-4D97-AF65-F5344CB8AC3E}">
        <p14:creationId xmlns:p14="http://schemas.microsoft.com/office/powerpoint/2010/main" val="1636267326"/>
      </p:ext>
    </p:extLst>
  </p:cSld>
  <p:transition spd="med" advClick="1">
    <p:fade/>
  </p:transition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1581C7-7B58-48E4-B5FF-E82F4008A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470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08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5CC42A-A51D-488C-86B5-B302A1722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A5CE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A5CE9"/>
                </a:solidFill>
                <a:latin typeface="Arial"/>
                <a:ea typeface="Arial"/>
                <a:cs typeface="Arial"/>
              </a:rPr>
              <a:t>СЦЕНАРИЙ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4D9239-DF1C-48E3-B425-0EB7C87F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1182C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1182C"/>
                </a:solidFill>
                <a:latin typeface="Arial"/>
                <a:ea typeface="Arial"/>
                <a:cs typeface="Arial"/>
              </a:rPr>
              <a:t>От лекции до оценки</a:t>
            </a:r>
          </a:p>
          <a:p xmlns:a="http://schemas.openxmlformats.org/drawingml/2006/main">
            <a:pPr algn="l">
              <a:defRPr sz="4500" b="1">
                <a:solidFill>
                  <a:srgbClr val="11182C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1182C"/>
                </a:solidFill>
                <a:latin typeface="Arial"/>
                <a:ea typeface="Arial"/>
                <a:cs typeface="Arial"/>
              </a:rPr>
              <a:t>в одном потоке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4A6BCC-17AD-4828-B4FC-EAEF545B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C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1182C"/>
                </a:solidFill>
                <a:latin typeface="Arial"/>
                <a:ea typeface="Arial"/>
                <a:cs typeface="Arial"/>
              </a:rPr>
              <a:t>Анна создаёт курс и приглашает Данияра.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4DE92D-1BAA-47CA-853E-0D6DC7E6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9525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3A5CE9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3A5CE9"/>
                </a:solidFill>
                <a:latin typeface="Arial"/>
                <a:ea typeface="Arial"/>
                <a:cs typeface="Arial"/>
              </a:rPr>
              <a:t>Данияр изучает тему и сдаёт решение.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8ABFA3-6E45-49BD-B42E-4D764240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33925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C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1182C"/>
                </a:solidFill>
                <a:latin typeface="Arial"/>
                <a:ea typeface="Arial"/>
                <a:cs typeface="Arial"/>
              </a:rPr>
              <a:t>Tutorlab собирает проверку. Анна публикует балл.</a:t>
            </a:r>
          </a:p>
        </p:txBody>
      </p:sp>
    </p:spTree>
    <p:extLst>
      <p:ext uri="{BB962C8B-B14F-4D97-AF65-F5344CB8AC3E}">
        <p14:creationId xmlns:p14="http://schemas.microsoft.com/office/powerpoint/2010/main" val="4771972"/>
      </p:ext>
    </p:extLst>
  </p:cSld>
  <p:transition spd="med" advClick="1">
    <p:push dir="l"/>
  </p:transition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118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5AB5E1-2D42-499E-BB6E-C5EB193D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DAE0E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AE0EC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BF091A-3A7D-40DB-9921-5236516D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5F3D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5F3D4"/>
                </a:solidFill>
                <a:latin typeface="Arial"/>
                <a:ea typeface="Arial"/>
                <a:cs typeface="Arial"/>
              </a:rPr>
              <a:t>ГОТОВОЕ ДЕМО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01A96A-9D56-4CD6-ACC9-D41E4DDA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10572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Это уже можно открыть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 попробовать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D99745-A471-4188-BDE6-9CE0A3A7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71775"/>
            <a:ext cx="10096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Работают аккаунты, курсы, материалы, задачи, экзамены и оценки.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B28A99-0D74-4462-A38B-EEFC982B0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24325"/>
            <a:ext cx="10096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A5F3D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A5F3D4"/>
                </a:solidFill>
                <a:latin typeface="Arial"/>
                <a:ea typeface="Arial"/>
                <a:cs typeface="Arial"/>
              </a:rPr>
              <a:t>DeepSeek подключается ключом. Для Judge0 нужен рабочий endpoint.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04B484-A970-4C94-989F-CD3D4DF9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43600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AE0E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AE0EC"/>
                </a:solidFill>
                <a:latin typeface="Arial"/>
                <a:ea typeface="Arial"/>
                <a:cs typeface="Arial"/>
              </a:rPr>
              <a:t>Код проекта открыт: github.com/farawd1/tutorlab</a:t>
            </a:r>
          </a:p>
        </p:txBody>
      </p:sp>
    </p:spTree>
    <p:extLst>
      <p:ext uri="{BB962C8B-B14F-4D97-AF65-F5344CB8AC3E}">
        <p14:creationId xmlns:p14="http://schemas.microsoft.com/office/powerpoint/2010/main" val="1630569729"/>
      </p:ext>
    </p:extLst>
  </p:cSld>
  <p:transition spd="med" advClick="1">
    <p:fade/>
  </p:transition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118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0BD412-1FB0-412D-8C20-DB06CF11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7620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A5F3D4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A5F3D4"/>
                </a:solidFill>
                <a:latin typeface="Arial"/>
                <a:ea typeface="Arial"/>
                <a:cs typeface="Arial"/>
              </a:rPr>
              <a:t>tutorlab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E89DCA-E4FB-450D-9484-C83B0E79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19275"/>
            <a:ext cx="10572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Меньше пересылок.</a:t>
            </a:r>
          </a:p>
          <a:p xmlns:a="http://schemas.openxmlformats.org/drawingml/2006/main">
            <a:pPr algn="l"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Больше времени</a:t>
            </a:r>
          </a:p>
          <a:p xmlns:a="http://schemas.openxmlformats.org/drawingml/2006/main">
            <a:pPr algn="l"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 ученика.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C2D210-1219-4D10-ACFF-6CE72092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772150"/>
            <a:ext cx="904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5F3D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5F3D4"/>
                </a:solidFill>
                <a:latin typeface="Arial"/>
                <a:ea typeface="Arial"/>
                <a:cs typeface="Arial"/>
              </a:rPr>
              <a:t>github.com/farawd1/tutorlab</a:t>
            </a:r>
          </a:p>
        </p:txBody>
      </p:sp>
    </p:spTree>
    <p:extLst>
      <p:ext uri="{BB962C8B-B14F-4D97-AF65-F5344CB8AC3E}">
        <p14:creationId xmlns:p14="http://schemas.microsoft.com/office/powerpoint/2010/main" val="332221669"/>
      </p:ext>
    </p:extLst>
  </p:cSld>
  <p:transition spd="med" advClick="1">
    <p:fade/>
  </p:transition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2026-09-24T05:40:40.9270000Z</dcterms:created>
  <dcterms:modified xsi:type="dcterms:W3CDTF">2026-09-24T05:40:40.9270000Z</dcterms:modified>
</coreProperties>
</file>